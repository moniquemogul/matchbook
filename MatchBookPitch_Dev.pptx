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9" r:id="rId5"/>
    <p:sldId id="270" r:id="rId6"/>
    <p:sldId id="273" r:id="rId7"/>
    <p:sldId id="263" r:id="rId8"/>
    <p:sldId id="271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254" autoAdjust="0"/>
  </p:normalViewPr>
  <p:slideViewPr>
    <p:cSldViewPr snapToGrid="0" snapToObjects="1">
      <p:cViewPr varScale="1">
        <p:scale>
          <a:sx n="72" d="100"/>
          <a:sy n="72" d="100"/>
        </p:scale>
        <p:origin x="10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07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Hello, I am Monique Mavour and this is </a:t>
            </a:r>
            <a:r>
              <a:rPr lang="en-US" dirty="0" err="1"/>
              <a:t>MatchBook</a:t>
            </a:r>
            <a:r>
              <a:rPr lang="en-US" dirty="0"/>
              <a:t> …  A two-sided AI matchmaking marketplace for boomer-owned service businesses and acquisition-minded buyers.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next decade, millions of baby boomers will retire from businesses they spent their whole lives building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Roughly ten trillion dollars in business value is going to change hands.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of those owners have no succession plan.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have interviewed baby boomers ready to retire, the most common thing I heard was, 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"Who would even buy it?"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genuinely believe their business just... ends when they do.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Meanwhile, there's a generation of buyers — funded, hungry, ready — telling me the exact opposite problem: 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good deals never list. Everything public is stale or picked over."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Here is Legacy </a:t>
            </a:r>
            <a:r>
              <a:rPr lang="en-US" dirty="0" err="1"/>
              <a:t>linda</a:t>
            </a:r>
            <a:r>
              <a:rPr lang="en-US" dirty="0"/>
              <a:t> and </a:t>
            </a:r>
            <a:r>
              <a:rPr lang="en-US" dirty="0" err="1"/>
              <a:t>Acquistion</a:t>
            </a:r>
            <a:r>
              <a:rPr lang="en-US" dirty="0"/>
              <a:t> Alex</a:t>
            </a:r>
            <a:br>
              <a:rPr lang="en-US" dirty="0"/>
            </a:br>
            <a:br>
              <a:rPr lang="en-US" dirty="0"/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MatchBook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AI matchmaker for business deals. Sellers describe their business in plain language, no broker jargon. Buyers set their targets. Our AI scores every pairing on industry, revenue, book-of-business quality, location, and capital — then makes warm introductions with a transparent fit score. 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looking for critical thinkers that can help us answer questions and create a valuable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we have a short time together we want to get to work right away –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Start with the Intake&gt; progress to fit-score &gt; create deal room and verification of documents&gt;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Warm AI-facilitated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mockup from the MVP1 spec — match score, explainability (checks + risks), and the seller/buyer journeys that feed it.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behind slide 9's high-level roles: what a Frontend Developer, Backend Developer, and Data Scientist each actually build and the specific skills/stack each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here's what I'm offering you. An MVP that's genuinely scoped for eight weeks — four features, no bloat. A validated market!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bring twelve-plus years of product and program leadership; I know how to ship. What I need is a strong team that wants to contribute to the technology behind something that matters.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retiring owner deserves a successor. Every eager buyer deserves a fair shot. 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 me build the introduction between clients — and let's catch a ten-trillion-dollar wave while everyone else is still staring at listings.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2A357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2A357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960120"/>
            <a:ext cx="914400" cy="91440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1978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#12 - </a:t>
            </a:r>
            <a:r>
              <a:rPr lang="en-US" sz="6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MatchBook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matchmaker connecting retiring baby-boomer business owners</a:t>
            </a:r>
            <a:endParaRPr lang="en-US" sz="19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eager buyers hunting for businesses with a proven book of business.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4617720"/>
            <a:ext cx="4663440" cy="566928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6177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retirement deserves a successor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 ·  Monique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silver tsunami has no matchmaker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baby-boomer owners are ready to retire — but they can't find buyers. 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that took decades to build close their doors or sell far below their value, simply because qualified buyers never knew they existed.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32004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businesses owned by boomers nearing retirement*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18795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~$10T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0" y="4187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business value expected to change hands*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17550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0" y="517550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small-business owners have no succession plan*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*Industry estimates (Census / Exit Planning Institute); to be refined in diligence.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5212080" cy="4709160"/>
          </a:xfrm>
          <a:prstGeom prst="roundRect">
            <a:avLst>
              <a:gd name="adj" fmla="val 2718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1920240"/>
            <a:ext cx="640080" cy="64008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981" y="2086661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58952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MatchBook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66560" y="274320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app for business deals.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scores buyer–seller fit across industry, revenue, book-of-business quality, location, and buyer capital — then introduces the right pair.</a:t>
            </a:r>
            <a:endParaRPr lang="en-US" sz="14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6110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4206240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describe their business in plain language — no broker jargon</a:t>
            </a:r>
            <a:endParaRPr lang="en-US" sz="12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9194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486460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set targets: industry, size, geography, capital available</a:t>
            </a:r>
            <a:endParaRPr lang="en-US" sz="12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5577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5522976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ranks matches with a transparent fit score and makes warm intros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 of the same handshake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niche: service businesses with a loyal book of business — insurance agencies, accounting firms, HVAC, landscaping.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250289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3172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“Legacy Linda” — The Retiring Seller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83080" y="3200400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Owner-operator, 65, runs an insurance agency / accounting firm / HVAC or landscaping company built over 25+ years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00507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83080" y="4005072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in the next 1–3 years with a fair payday — and see her clients and staff in good hands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809744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83080" y="480974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successor, and no idea where to find a buyers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" y="5614416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783080" y="5614416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would even buy it? I assumed it just closes when I stop.”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2011680"/>
            <a:ext cx="544068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37960" y="2331720"/>
            <a:ext cx="658368" cy="658368"/>
          </a:xfrm>
          <a:prstGeom prst="ellipse">
            <a:avLst/>
          </a:prstGeom>
          <a:solidFill>
            <a:srgbClr val="C9820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36" y="2502896"/>
            <a:ext cx="316017" cy="31601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60920" y="233172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“Acquisition Alex” — The Eager Buyer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6537960" y="32004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52360" y="3200400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 acquisition entrepreneur or searcher with capital (savings, business loan, or backers), mid-career operator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37960" y="400507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452360" y="4005072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profitable service business with recurring customers instead of starting from zero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537960" y="4809744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452360" y="480974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businesses sell quietly by word of mouth — public listings are stale, overpriced, or unverifiable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537960" y="5614416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452360" y="5614416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deals never list. By the time I see one, it's picked over.”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HYPOTHESIS VALIDATION — PRELIMINARY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proved it by hand. The open questions are the job.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use AI to evaluate buyer–seller compatibility and verify key business information before making introductions, we reduce low-quality matches and increase the share of intros that progress to real acquisition conversations.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49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Feasible, not yet proven.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manually matched real sellers and buyers using the exact criteria the AI will use — before any code existed — and both sides showed strong interest. Both sides of the marketplace contain enough measurable variables (financials, involvement, risk tolerance, deal terms) to make scoring plausible.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56317" y="2772717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92240" y="2971800"/>
            <a:ext cx="548640" cy="54864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311444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23760" y="2971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technical questions you'd help answer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92240" y="3767328"/>
            <a:ext cx="100584" cy="100584"/>
          </a:xfrm>
          <a:prstGeom prst="ellipse">
            <a:avLst/>
          </a:prstGeom>
          <a:solidFill>
            <a:srgbClr val="C9820F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353407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users actually trust an AI-generated fit score?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92240" y="4389120"/>
            <a:ext cx="100584" cy="100584"/>
          </a:xfrm>
          <a:prstGeom prst="ellipse">
            <a:avLst/>
          </a:prstGeom>
          <a:solidFill>
            <a:srgbClr val="C9820F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4174236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carry the most predictive value?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492240" y="5010912"/>
            <a:ext cx="100584" cy="100584"/>
          </a:xfrm>
          <a:prstGeom prst="ellipse">
            <a:avLst/>
          </a:prstGeom>
          <a:solidFill>
            <a:srgbClr val="C9820F"/>
          </a:solidFill>
          <a:ln/>
        </p:spPr>
      </p:sp>
      <p:sp>
        <p:nvSpPr>
          <p:cNvPr id="17" name="Text 14"/>
          <p:cNvSpPr/>
          <p:nvPr/>
        </p:nvSpPr>
        <p:spPr>
          <a:xfrm>
            <a:off x="6740330" y="4844395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~90% the right introduction threshold — or should it flex by deal size or industry?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492240" y="5632704"/>
            <a:ext cx="100584" cy="100584"/>
          </a:xfrm>
          <a:prstGeom prst="ellipse">
            <a:avLst/>
          </a:prstGeom>
          <a:solidFill>
            <a:srgbClr val="C9820F"/>
          </a:solidFill>
          <a:ln/>
        </p:spPr>
      </p:sp>
      <p:sp>
        <p:nvSpPr>
          <p:cNvPr id="19" name="Text 16"/>
          <p:cNvSpPr/>
          <p:nvPr/>
        </p:nvSpPr>
        <p:spPr>
          <a:xfrm>
            <a:off x="6711215" y="539969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document verification materially cut due-diligence time?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you: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is validated; the science of the scoring model is not — that's real, unsolved, ownable work.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weeks from first conversation to warm introduction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0607040" cy="27432"/>
          </a:xfrm>
          <a:prstGeom prst="rect">
            <a:avLst/>
          </a:prstGeom>
          <a:solidFill>
            <a:srgbClr val="E2E6F0"/>
          </a:solidFill>
          <a:ln/>
        </p:spPr>
      </p:sp>
      <p:sp>
        <p:nvSpPr>
          <p:cNvPr id="5" name="Shape 3"/>
          <p:cNvSpPr/>
          <p:nvPr/>
        </p:nvSpPr>
        <p:spPr>
          <a:xfrm>
            <a:off x="1522476" y="16916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652" y="186281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Discovery, VoC &amp; intake schema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3584448"/>
            <a:ext cx="2221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interviews + async survey run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&amp; buyer intake fields spec'd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framed as unproven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1396" y="1691640"/>
            <a:ext cx="658368" cy="658368"/>
          </a:xfrm>
          <a:prstGeom prst="ellipse">
            <a:avLst/>
          </a:prstGeom>
          <a:solidFill>
            <a:srgbClr val="C9820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572" y="186281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37560" y="2788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Fit-scoring engine v1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337560" y="34290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16" name="Text 12"/>
          <p:cNvSpPr/>
          <p:nvPr/>
        </p:nvSpPr>
        <p:spPr>
          <a:xfrm>
            <a:off x="3538728" y="3584448"/>
            <a:ext cx="2221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scoring: industry, geo, financials, risk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hand-matched pairs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explicitly excluded by design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100316" y="1691640"/>
            <a:ext cx="658368" cy="65836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492" y="18628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26480" y="2788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explainability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126480" y="34290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22" name="Text 17"/>
          <p:cNvSpPr/>
          <p:nvPr/>
        </p:nvSpPr>
        <p:spPr>
          <a:xfrm>
            <a:off x="6327648" y="3584448"/>
            <a:ext cx="2221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 Workspace for document repository</a:t>
            </a:r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P&amp;Ls, tax returns, SDE/EBITDA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Red-flag detection + (possible) human-in-the-loop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this match” explanation screen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889236" y="16916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0412" y="1862816"/>
            <a:ext cx="316017" cy="31601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2514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915400" y="2788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intro, beta &amp; Demo Day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8915400" y="342900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4F6FB"/>
          </a:solidFill>
          <a:ln/>
        </p:spPr>
      </p:sp>
      <p:sp>
        <p:nvSpPr>
          <p:cNvPr id="28" name="Text 22"/>
          <p:cNvSpPr/>
          <p:nvPr/>
        </p:nvSpPr>
        <p:spPr>
          <a:xfrm>
            <a:off x="9116568" y="3584448"/>
            <a:ext cx="2221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live end to end, hosted for beta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sellers &amp; buyers give feedback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Demo Day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868680" y="5669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MVP1 (preliminary):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learning loop (MVP2), then deal-success prediction + financing matching (Future) — scoped loosely until real MVP1 usage data exists.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30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MOCKUP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Seller intake → AI verification → a match you can trust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SELLER JOURNEY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6112" y="2011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23408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intake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267004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Upload financials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6112" y="29992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summary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332841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6112" y="3328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Receive matches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" y="3657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Approve introduction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BUYER JOURNEY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6112" y="4480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80974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" y="4809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criteria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513892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112" y="5138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qualification (upload buyer financials)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546811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96112" y="5468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AI-recommended businesses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7972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6112" y="57972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“why this match”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640" y="612648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9A1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" y="61264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37760" y="1554480"/>
            <a:ext cx="667512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035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03520" y="19933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E7D5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2761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YOU'RE A STRONG MATCH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06324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596128" y="30540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Geography match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355848"/>
            <a:ext cx="201168" cy="20116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596128" y="33467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 within buyer's range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648456"/>
            <a:ext cx="201168" cy="2011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596128" y="36393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Buyer liquidity meets down-payment requirement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41064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596128" y="3931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Business SDE exceeds buyer minimum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233672"/>
            <a:ext cx="201168" cy="20116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596128" y="42245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Seller financing preferences align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530352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50" normalizeH="0" baseline="0" noProof="0" dirty="0">
                <a:ln>
                  <a:noFill/>
                </a:ln>
                <a:solidFill>
                  <a:srgbClr val="C9820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RISKS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4882896"/>
            <a:ext cx="182880" cy="18288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596128" y="486460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Largest customer represents 28% of revenue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5212080"/>
            <a:ext cx="182880" cy="1828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596128" y="51937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Lease expires in 24 months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5541264"/>
            <a:ext cx="182880" cy="1828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596128" y="552297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232A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Seller currently performs a critical operational function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5303520" y="6062472"/>
            <a:ext cx="5943600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2" name="Text 42"/>
          <p:cNvSpPr/>
          <p:nvPr/>
        </p:nvSpPr>
        <p:spPr>
          <a:xfrm>
            <a:off x="5303520" y="606247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Request Warm Introduction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before a single engineer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74904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24114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06324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formation &amp;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7490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team staffed (4), Designers (2), running Agile/Kanban against a living decision log (DAIRC) and a shared Google Workspace repo.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70832" y="1920240"/>
            <a:ext cx="3611880" cy="374904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40280"/>
            <a:ext cx="658368" cy="658368"/>
          </a:xfrm>
          <a:prstGeom prst="ellipse">
            <a:avLst/>
          </a:prstGeom>
          <a:solidFill>
            <a:srgbClr val="C9820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616" y="241145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06324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infrastructure built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7490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Voice-of-Customer interview guide plus an async Google Form survey are built and ready to run for both sellers and buyers.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93024" y="1920240"/>
            <a:ext cx="3611880" cy="374904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240280"/>
            <a:ext cx="658368" cy="65836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808" y="241145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306324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schema spec'd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85632" y="3749040"/>
            <a:ext cx="3026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&amp; buyer intake fields;  financials, operations, risk tolerance, deal terms — are fully defined. You're not starting from a blank page.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ROLES &amp; SKILLSET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technical role actually builds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519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432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145536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" y="336499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Seller/buyer intake forms, the match results screen, and the warm-intro flow.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841248" y="418795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" y="4425696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forms with conditional logic (NDA-gated fields)</a:t>
            </a:r>
            <a:endParaRPr lang="en-US" sz="980" dirty="0"/>
          </a:p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Plain-language, accessible UX for a 60–75 seller audience</a:t>
            </a:r>
            <a:endParaRPr lang="en-US" sz="980" dirty="0"/>
          </a:p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TypeScript, Next.js, Tailwind, React Hook Form + Zod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370832" y="1828800"/>
            <a:ext cx="3611880" cy="42519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103120"/>
            <a:ext cx="566928" cy="566928"/>
          </a:xfrm>
          <a:prstGeom prst="ellipse">
            <a:avLst/>
          </a:prstGeom>
          <a:solidFill>
            <a:srgbClr val="C9820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841" y="225052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27432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Developer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63440" y="3145536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663440" y="336499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APIs, NDA-gating logic, the 90%+ match trigger, and the warm-intro workflow.</a:t>
            </a:r>
            <a:endParaRPr lang="en-US" sz="1030" dirty="0"/>
          </a:p>
        </p:txBody>
      </p:sp>
      <p:sp>
        <p:nvSpPr>
          <p:cNvPr id="18" name="Text 14"/>
          <p:cNvSpPr/>
          <p:nvPr/>
        </p:nvSpPr>
        <p:spPr>
          <a:xfrm>
            <a:off x="4663440" y="418795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98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63440" y="4425696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handling of sensitive financial documents</a:t>
            </a:r>
            <a:endParaRPr lang="en-US" sz="980" dirty="0"/>
          </a:p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marketplace data models (asymmetric visibility)</a:t>
            </a:r>
            <a:endParaRPr lang="en-US" sz="980" dirty="0"/>
          </a:p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 — fast to host for beta by Week 7–8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8193024" y="1828800"/>
            <a:ext cx="3611880" cy="4251960"/>
          </a:xfrm>
          <a:prstGeom prst="roundRect">
            <a:avLst>
              <a:gd name="adj" fmla="val 354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85632" y="2103120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033" y="2250521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85632" y="274320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Scientist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485632" y="3145536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485632" y="336499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fit-scoring model, AI document-reading pipeline, and the “why this match” explainability layer.</a:t>
            </a:r>
            <a:endParaRPr lang="en-US" sz="1030" dirty="0"/>
          </a:p>
        </p:txBody>
      </p:sp>
      <p:sp>
        <p:nvSpPr>
          <p:cNvPr id="26" name="Text 21"/>
          <p:cNvSpPr/>
          <p:nvPr/>
        </p:nvSpPr>
        <p:spPr>
          <a:xfrm>
            <a:off x="8485632" y="418795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485632" y="4425696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engineering (Claude) — not from-scratch ML training</a:t>
            </a:r>
            <a:endParaRPr lang="en-US" sz="980" dirty="0"/>
          </a:p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Bias-free scoring by design; eval against hand-matched pairs</a:t>
            </a:r>
            <a:endParaRPr lang="en-US" sz="980" dirty="0"/>
          </a:p>
          <a:p>
            <a:pPr marL="114300" indent="-1143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2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direct API calls over heavy frameworks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377440"/>
            <a:ext cx="5943600" cy="5943600"/>
          </a:xfrm>
          <a:prstGeom prst="ellipse">
            <a:avLst/>
          </a:prstGeom>
          <a:solidFill>
            <a:srgbClr val="2A3575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023360"/>
            <a:ext cx="5029200" cy="5029200"/>
          </a:xfrm>
          <a:prstGeom prst="ellipse">
            <a:avLst/>
          </a:prstGeom>
          <a:solidFill>
            <a:srgbClr val="2A357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051560"/>
            <a:ext cx="1280160" cy="1280160"/>
          </a:xfrm>
          <a:prstGeom prst="ellipse">
            <a:avLst/>
          </a:prstGeom>
          <a:solidFill>
            <a:srgbClr val="E9A1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522" y="138440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51760"/>
            <a:ext cx="9994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retiring owner deserves a successor.</a:t>
            </a:r>
            <a:endParaRPr lang="en-US" sz="3200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eager buyer deserves a fair shot.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4206240"/>
            <a:ext cx="9079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MatchBook is the trusted introduction between them — validated by real conversations,</a:t>
            </a:r>
            <a:endParaRPr lang="en-US" sz="1600" dirty="0"/>
          </a:p>
          <a:p>
            <a:pPr marL="0" indent="0" algn="ctr">
              <a:lnSpc>
                <a:spcPts val="23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with hand-made matches, and ready to build.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53128" y="5349240"/>
            <a:ext cx="3291840" cy="603504"/>
          </a:xfrm>
          <a:prstGeom prst="roundRect">
            <a:avLst>
              <a:gd name="adj" fmla="val 50000"/>
            </a:avLst>
          </a:prstGeom>
          <a:solidFill>
            <a:srgbClr val="E9A13B"/>
          </a:solidFill>
          <a:ln/>
        </p:spPr>
      </p:sp>
      <p:sp>
        <p:nvSpPr>
          <p:cNvPr id="9" name="Text 6"/>
          <p:cNvSpPr/>
          <p:nvPr/>
        </p:nvSpPr>
        <p:spPr>
          <a:xfrm>
            <a:off x="4453128" y="534924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 together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6263640"/>
            <a:ext cx="9079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Monique  ·  moniqueamavour@gmail.com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1618</Words>
  <Application>Microsoft Office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Monique Mavour</cp:lastModifiedBy>
  <cp:revision>10</cp:revision>
  <dcterms:created xsi:type="dcterms:W3CDTF">2026-08-04T01:08:43Z</dcterms:created>
  <dcterms:modified xsi:type="dcterms:W3CDTF">2026-08-18T15:03:20Z</dcterms:modified>
</cp:coreProperties>
</file>